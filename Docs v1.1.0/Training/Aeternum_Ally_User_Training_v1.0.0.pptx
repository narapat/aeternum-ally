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6309360"/>
            <a:ext cx="11825935" cy="7315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User Training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walkthrough of the ESRS / CSRD sustainability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workflow — built for SMEs.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5029200" cy="1005840"/>
          </a:xfrm>
          <a:prstGeom prst="rect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754880"/>
            <a:ext cx="73152" cy="100584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the official User Manual v1.0.0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Audience: full team — staff, admins, owners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Aeternum Ally?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guides your organization through a structured sustainability reporting workflow. By the end of the process, you will have a draft Sustainability Statement aligned with ESRS and cross-referenced to GRI — without needing prior reporting expertise.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6576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22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754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workflow from profile to statement.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32304" y="365760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36576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3822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23744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AI-assisted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9464" y="4754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drafts and suggestions, you stay in control.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65760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36576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3822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498848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Aligned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44568" y="4754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ESRS 2 structure with a GRI cross-reference index.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783080"/>
            <a:ext cx="4937760" cy="4069080"/>
          </a:xfrm>
          <a:prstGeom prst="rect">
            <a:avLst/>
          </a:prstGeom>
          <a:solidFill>
            <a:srgbClr val="EEF2F2"/>
          </a:solidFill>
          <a:ln w="12700">
            <a:solidFill>
              <a:srgbClr val="B7C9C9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23960" y="326898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3387852"/>
            <a:ext cx="219456" cy="219456"/>
          </a:xfrm>
          <a:prstGeom prst="ellipse">
            <a:avLst/>
          </a:prstGeom>
          <a:solidFill>
            <a:srgbClr val="CCFF00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8633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placeholder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41833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marketing site or app overview screenshot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 &amp; navigation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Materiality &amp; Matrix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&amp; Performance Dashboard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69748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the Sustainability Statement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47472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management &amp; AI Usage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 &amp; resources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 in by 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756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uses magic links — no password to remember. Enter your email; click the link in your inbox.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First time? Create an organization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035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your company is new to the platform, click Create Organization. You become the Owner.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Invited by a colleague?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9959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link in your invitation email instead. You'll be added to their organization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Link expired?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9560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 the sign-in page and request a new one. Invitation links expire after 7 days.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5120640" cy="4069080"/>
          </a:xfrm>
          <a:prstGeom prst="rect">
            <a:avLst/>
          </a:prstGeom>
          <a:solidFill>
            <a:srgbClr val="EEF2F2"/>
          </a:solidFill>
          <a:ln w="12700">
            <a:solidFill>
              <a:srgbClr val="B7C9C9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32520" y="326898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34272" y="3387852"/>
            <a:ext cx="219456" cy="219456"/>
          </a:xfrm>
          <a:prstGeom prst="ellipse">
            <a:avLst/>
          </a:prstGeom>
          <a:solidFill>
            <a:srgbClr val="CCFF00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8633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placeholder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41833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sign-in screen + organization setup screen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Navigating the app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411480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left sidebar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— completeness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Profile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Materiality Assessment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Materiality Matrix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783080"/>
            <a:ext cx="630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78308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057400"/>
            <a:ext cx="731520" cy="7315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←→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Collapse the sidebar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double-arrow icon at the bottom for more screen space.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200400"/>
            <a:ext cx="630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20040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3474720"/>
            <a:ext cx="731520" cy="7315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mobile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hamburger menu icon in the top-left to open navigation.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4617720"/>
            <a:ext cx="630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94960" y="461772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4892040"/>
            <a:ext cx="731520" cy="7315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via the sun/moon icon. Saved per device.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reporting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guided steps that turn your company information into a draft Sustainability Statement.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288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2288" y="2743200"/>
            <a:ext cx="73152" cy="219456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2368" y="29718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236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3728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728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size, 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09648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65096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65096" y="27432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5176" y="2971800"/>
            <a:ext cx="502920" cy="502920"/>
          </a:xfrm>
          <a:prstGeom prst="ellipse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517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56536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Canvas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6536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11-block business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02456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57904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7904" y="2743200"/>
            <a:ext cx="73152" cy="219456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7984" y="29718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7984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49344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9344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10 ESRS topics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95264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50712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50712" y="27432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90792" y="2971800"/>
            <a:ext cx="502920" cy="502920"/>
          </a:xfrm>
          <a:prstGeom prst="ellipse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079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42152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42152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 to threats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88072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043520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3520" y="2743200"/>
            <a:ext cx="73152" cy="219456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600" y="29718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36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134960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KPIs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34960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via Balanced Scorecard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0880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9936328" y="274320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936328" y="2743200"/>
            <a:ext cx="73152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76408" y="2971800"/>
            <a:ext cx="502920" cy="502920"/>
          </a:xfrm>
          <a:prstGeom prst="ellipse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7640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27768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27768" y="4069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ESRS-aligned + GRI index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— you don't need 100% completeness to generate. Better data = richer report.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— PROFILE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Profile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943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32588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Basic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name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 / registration number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sector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ISIC code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Founding year, website, address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943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73152" cy="132588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count: Micro / Small / Medium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range (last financial year)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5943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800600"/>
            <a:ext cx="73152" cy="132588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description (2–5 sentences) ★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Mission, Vision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/ services (comma-separated)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783080"/>
            <a:ext cx="5029200" cy="1188720"/>
          </a:xfrm>
          <a:prstGeom prst="rect">
            <a:avLst/>
          </a:prstGeom>
          <a:solidFill>
            <a:srgbClr val="F0FFE6"/>
          </a:solidFill>
          <a:ln w="12700">
            <a:solidFill>
              <a:srgbClr val="C7E8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★ The General Description matters most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features draw on this text heavily — write 2–5 clear sentences about what you do, who you serve, and how.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3108960"/>
            <a:ext cx="5029200" cy="2788920"/>
          </a:xfrm>
          <a:prstGeom prst="rect">
            <a:avLst/>
          </a:prstGeom>
          <a:solidFill>
            <a:srgbClr val="EEF2F2"/>
          </a:solidFill>
          <a:ln w="12700">
            <a:solidFill>
              <a:srgbClr val="B7C9C9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0" y="395478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D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9992" y="4073652"/>
            <a:ext cx="219456" cy="219456"/>
          </a:xfrm>
          <a:prstGeom prst="ellipse">
            <a:avLst/>
          </a:prstGeom>
          <a:solidFill>
            <a:srgbClr val="CCFF00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5491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placeholder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48691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Company Profile form screenshot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—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how your company creates, delivers, and captures value — extended with environmental and social dimensions.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286000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286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2194560" cy="2194560"/>
          </a:xfrm>
          <a:prstGeom prst="rect">
            <a:avLst/>
          </a:prstGeom>
          <a:solidFill>
            <a:srgbClr val="CCFF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286000"/>
            <a:ext cx="2194560" cy="54864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286000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286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0" y="228600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2286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429000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429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3593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429000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3429000"/>
            <a:ext cx="219456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3593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72000"/>
            <a:ext cx="566928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572000"/>
            <a:ext cx="5577840" cy="54864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47365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532120"/>
            <a:ext cx="566928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6967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Eco-Social Costs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553212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5532120"/>
            <a:ext cx="557784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56967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Eco-Social Benefits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— MATERIALITY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Double Materiality — the concept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384048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Impact Materiality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Inside-Out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significantly does your company impact people and the environment through this topic?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— how severe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— how widespread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Irremediability — how hard to reverse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— how likely to occur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577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828800"/>
            <a:ext cx="73152" cy="384048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Materiality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Outside-In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significantly does this topic affect your company's financial performance — through risks or opportunities?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8404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Magnitude — how large the financial impact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— how likely it 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topic is MATERIAL if it scores above the threshold (40) on either dimension.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— MATERIALITY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Scoring an assessment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+Add Assessment, pick an ESRS topic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96312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5420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(or generate) the impact description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2552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(or generate) the financial description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22776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the criteria (1 → 5 sliders)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636008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6817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— material status is calculated automatically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5943600" cy="868680"/>
          </a:xfrm>
          <a:prstGeom prst="rect">
            <a:avLst/>
          </a:prstGeom>
          <a:solidFill>
            <a:srgbClr val="F0FFE6"/>
          </a:solidFill>
          <a:ln w="12700">
            <a:solidFill>
              <a:srgbClr val="C7E8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5778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77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Auto-Fill drafts descriptions and suggested scores from your profile.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review — AI uses general industry knowledge, adjust to your specifics.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78308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783080"/>
            <a:ext cx="73152" cy="457200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10 ESRS topics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236829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368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Climate Change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27523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7523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Pollution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13639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136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3099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&amp; Marine Resources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3520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3483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Biodiversity &amp; Ecosystems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0" y="390448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9044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3867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Use &amp; Circular Economy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428853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4288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Workforce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0" y="467258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6725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4636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in the Value Chain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0" y="50566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5056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5020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Affected Communities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0" y="54406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5440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5404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 &amp; End-users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58000" y="582472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5824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5788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Conduct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—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Materiality Matrix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66928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5394960"/>
            <a:ext cx="4937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03120"/>
            <a:ext cx="0" cy="32918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2103120"/>
            <a:ext cx="0" cy="3291840"/>
          </a:xfrm>
          <a:prstGeom prst="line">
            <a:avLst/>
          </a:prstGeom>
          <a:noFill/>
          <a:ln w="19050">
            <a:solidFill>
              <a:srgbClr val="CCFF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4078224"/>
            <a:ext cx="4937760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03197" y="2505456"/>
            <a:ext cx="201168" cy="201168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8877" y="22311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30168" y="3163824"/>
            <a:ext cx="201168" cy="201168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8895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4315968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041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01952" y="4710989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443666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23944" y="2670048"/>
            <a:ext cx="201168" cy="201168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23957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Materiality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Materiality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read the matrix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23317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dot is one assessed ESRS topic.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X-axis = Financial Materiality (0–100).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Y-axis = Impact Materiality (0–100).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Dashed lines = the 40-point threshold.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above or to the right of either line is material.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846320"/>
            <a:ext cx="5303520" cy="1188720"/>
          </a:xfrm>
          <a:prstGeom prst="rect">
            <a:avLst/>
          </a:prstGeom>
          <a:solidFill>
            <a:srgbClr val="FFFEEC"/>
          </a:solidFill>
          <a:ln w="12700">
            <a:solidFill>
              <a:srgbClr val="EFE7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Sense-check tip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5257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topic you consider business-critical lands in the non-material zone, revisit its scoring.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— SWOT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four-step wizard. Auto-saves as you go.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00" cy="169164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807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your organization do well? What advantages do you have?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486400" cy="1691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807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you have gaps or vulnerabilities?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86400" cy="169164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68172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external trends or market shifts could you benefit from?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4023360"/>
            <a:ext cx="5486400" cy="1691640"/>
          </a:xfrm>
          <a:prstGeom prst="rect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Threats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468172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external risks, regulatory changes, or competitive pressures?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0FFE6"/>
          </a:solidFill>
          <a:ln w="12700">
            <a:solidFill>
              <a:srgbClr val="C7E8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89788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97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5760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Suggest (Opportunities + Threats): the AI runs a live Google search for industry news, regulations, and trends.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 — KPIs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Performance Dashboard — Balanced Scorecard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sustainability performance across four perspectives.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73152" cy="274320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0320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impact, cost savings, fines avoided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3774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377440"/>
            <a:ext cx="73152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2560320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11880" y="3794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Satisfaction, retention, complaints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377440"/>
            <a:ext cx="73152" cy="2743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560320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Internal Processes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targets, emissions, waste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23774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98280" y="2377440"/>
            <a:ext cx="73152" cy="2743200"/>
          </a:xfrm>
          <a:prstGeom prst="rect">
            <a:avLst/>
          </a:prstGeom>
          <a:solidFill>
            <a:srgbClr val="5B3F8A"/>
          </a:solidFill>
          <a:ln w="12700">
            <a:solidFill>
              <a:srgbClr val="5B3F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2560320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7260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3F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Learning &amp; Growth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72600" y="3794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Training, innovation, capability building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0FFE6"/>
          </a:solidFill>
          <a:ln w="12700">
            <a:solidFill>
              <a:srgbClr val="C7E8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65099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650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344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Suggest KPIs — the AI proposes a starter set tied to your material topics. Review, then add the ones you want.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KPI shows a progress bar (current vs target). Click one to view trend chart from your history log.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 — KPIs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Defining a KPI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457200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Required fields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— short label (e.g. Carbon emissions per unit)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— what is being measured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 — which BSC quadrant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— Monthly / Quarterly / Annually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— %, tCO₂e, THB, incidents…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value — the goal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value — today's performance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KPIs — for causal mapping (optional)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— past data points → trend chart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78308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783080"/>
            <a:ext cx="73152" cy="32004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RACI — ownership matrix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331720"/>
            <a:ext cx="41148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926080"/>
            <a:ext cx="41148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926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092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Accountable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result (manager/director)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520440"/>
            <a:ext cx="41148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Consulted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input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4114800"/>
            <a:ext cx="41148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114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Informed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to know the outcome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5120640"/>
            <a:ext cx="5029200" cy="1234440"/>
          </a:xfrm>
          <a:prstGeom prst="rect">
            <a:avLst/>
          </a:prstGeom>
          <a:solidFill>
            <a:srgbClr val="EEF2F2"/>
          </a:solidFill>
          <a:ln w="12700">
            <a:solidFill>
              <a:srgbClr val="B7C9C9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78240" y="518922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D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9992" y="5308092"/>
            <a:ext cx="219456" cy="219456"/>
          </a:xfrm>
          <a:prstGeom prst="ellipse">
            <a:avLst/>
          </a:prstGeom>
          <a:solidFill>
            <a:srgbClr val="CCFF00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7835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placeholder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61036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KPI form / progress bar screenshot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 —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Generating your Sustainability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generation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Generate Statement when you're 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044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collects all your data and sends it to the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758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takes 10–60 seconds depending on data volume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25696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4714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draft carefully — verify facts against your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38928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51846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to PDF (button) or use Cmd/Ctrl + P → Save as PDF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178308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783080"/>
            <a:ext cx="73152" cy="45720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What's in the statement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ESRS 2 — General Disclosures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6974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overview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approach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&amp; business model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materiality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Topical disclosures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297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section per material topic — IRO, actions, metrics.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GRI Content Index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Cross-reference table mapping ESRS topics to GRI standards.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SCREEN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Completeness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home screen — see progress across every section before you generate.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68580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61488"/>
            <a:ext cx="5829300" cy="292608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47288"/>
            <a:ext cx="68580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47288"/>
            <a:ext cx="4457700" cy="292608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Materiality Assessment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68580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33088"/>
            <a:ext cx="3429000" cy="292608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18888"/>
            <a:ext cx="68580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18888"/>
            <a:ext cx="5143500" cy="292608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773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504688"/>
            <a:ext cx="68580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04688"/>
            <a:ext cx="2057400" cy="292608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5458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23774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1120" y="2377440"/>
            <a:ext cx="73152" cy="365760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 it to…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8803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empty sections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team handoffs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when to generate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progress over 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management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00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39319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the org. Full access; manages billing/integration in future versions.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access. Can invite, remove, and manage team members.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0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access to sustainability data. Cannot manage team members.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5B3F8A"/>
          </a:solidFill>
          <a:ln w="12700">
            <a:solidFill>
              <a:srgbClr val="5B3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389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5029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access to sustainability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4663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783080"/>
            <a:ext cx="73152" cy="3931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Inviting a member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237744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18120" y="2395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the person's email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315468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18120" y="3172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their role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393192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1812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Send Invite — link expires after 7 days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4709160"/>
            <a:ext cx="502920" cy="502920"/>
          </a:xfrm>
          <a:prstGeom prst="ellipse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818120" y="47274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Expired? Use Resend Invite Link from sign-in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FFEEC"/>
          </a:solidFill>
          <a:ln w="12700">
            <a:solidFill>
              <a:srgbClr val="EFE7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Owners and Admins can remove members. The action is immediate — no undo.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Usage Panel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and Admins can monitor AI consumption. Especially useful when self-hosting on your own Gemini API quota.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31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606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(in / out)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6949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2026-05-06 10:14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IRO suggestions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2,340 / 1,022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694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2026-05-06 09:58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566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threats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1,128 / 612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694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2026-05-06 09:42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069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 statement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8,415 / 4,802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694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72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2026-05-05 17:02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4572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Auto-fill (E1)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4572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1,544 / 870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029200"/>
            <a:ext cx="694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074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2026-05-05 14:21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5074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suggestions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5074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5074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2,015 / 990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24688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0" y="2468880"/>
            <a:ext cx="73152" cy="36576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period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18,247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82296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tokens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9,486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8229600" y="5212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tokens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illustration — your panel will show your real numbers.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Troubleshooting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28016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Sign-in link didn't arrive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spam, wait 2–3 min, request a new link, ask IT to whitelist sender.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features not responding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sign-in &amp; internet. Demo quota may be exhausted at peak; self-host with your Gemini key.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Invite link expired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page → enter email → Resend Invite Link. Fresh link arrives in minutes.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200400"/>
            <a:ext cx="73152" cy="128016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not saving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save indicator. Check connection. Refresh — auto-saved data reloads.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61772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Materiality matrix empty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matrix only shows assessed topics. Add at least one assessment record.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617720"/>
            <a:ext cx="73152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Statement generation failed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5120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description filled? Material topic exists? Retry after 30–60s for rate limits.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HELP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Resources &amp; support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69164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demo.aeternumally.com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platform with sample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83080"/>
            <a:ext cx="73152" cy="1691640"/>
          </a:xfrm>
          <a:prstGeom prst="rect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Marketing site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aeternumally.com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inquiries and licensing.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73152" cy="1691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76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Bug reports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github.com/narapat/Aeternum-Ally/issues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an issue — for technical problems.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611880"/>
            <a:ext cx="73152" cy="1691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76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User Manual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docs/USER_MANUAL.md (in repo)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reference for every screen and feature.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310896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TAKE-HOME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reference cheat-sheet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7315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MATERIALITY_THRESHOLD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— score above on EITHER axis = material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73152" cy="7315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ESRS topics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167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total: E1–E5, S1–S4, G1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73152" cy="7315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Default AI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35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651760"/>
            <a:ext cx="73152" cy="7315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Invite expiry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035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20440"/>
            <a:ext cx="73152" cy="7315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Materiality criteria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04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 scale, scope, irremediability, likelihood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520440"/>
            <a:ext cx="73152" cy="7315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criteria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904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Magnitude, likelihood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389120"/>
            <a:ext cx="73152" cy="7315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BSC perspectives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773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· Customer · Internal · Learning &amp; Growth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4389120"/>
            <a:ext cx="73152" cy="7315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RACI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773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· Accountable · Consulted · Informed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25780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5257800"/>
            <a:ext cx="73152" cy="731520"/>
          </a:xfrm>
          <a:prstGeom prst="rect">
            <a:avLst/>
          </a:prstGeom>
          <a:solidFill>
            <a:srgbClr val="004D4D"/>
          </a:solidFill>
          <a:ln w="12700">
            <a:solidFill>
              <a:srgbClr val="004D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349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Auto-save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641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Profile, BMC, SWOT — Materiality &amp; KPIs save explicitly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 Ally — User Training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C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live demo, try the workflow with sample data, then come back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feedback. Aeternum Ally improves fastest with real users.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6400800" cy="1280160"/>
          </a:xfrm>
          <a:prstGeom prst="rect">
            <a:avLst/>
          </a:prstGeom>
          <a:solidFill>
            <a:srgbClr val="00343A"/>
          </a:solidFill>
          <a:ln w="12700">
            <a:solidFill>
              <a:srgbClr val="003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754880"/>
            <a:ext cx="73152" cy="128016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6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demo.aeternumally.com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aeternumally.com  ·  github.com/narapat/Aeternum-Ally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Aeternum Ally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Aeternum Ally — User Training</dc:title>
  <dc:subject>User training based on the official User Manual</dc:subject>
  <dc:creator>Aeternum Ally</dc:creator>
  <cp:lastModifiedBy>Aeternum Ally</cp:lastModifiedBy>
  <cp:revision>1</cp:revision>
  <dcterms:created xsi:type="dcterms:W3CDTF">2026-05-06T08:06:41Z</dcterms:created>
  <dcterms:modified xsi:type="dcterms:W3CDTF">2026-05-06T08:06:41Z</dcterms:modified>
</cp:coreProperties>
</file>